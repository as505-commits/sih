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2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2" d="100"/>
          <a:sy n="72" d="100"/>
        </p:scale>
        <p:origin x="43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361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ECLIPSE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74320"/>
            <a:ext cx="1828800" cy="548640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966960" y="274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2026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SIH26186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Sahayak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01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AI-Based Predictive Personnel Stress and Welfare Monitoring System for Uniformed Forces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 — 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26186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648456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 — 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Predictive Personnel Stress and Welfare Monitoring System for Uniformed Forces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24281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— 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MedTech / BioTech / HealthTech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64515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 — 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50474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— 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Home Affairs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449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— 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Reserve Police Force (CRPF), Police II Division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8521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— 25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2544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(Registered on portal) — 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281160" y="21031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00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64739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Idea Submission Template  •  </a:t>
            </a:r>
            <a:r>
              <a:rPr lang="en-US" sz="10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Sahayak</a:t>
            </a: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SIH26186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68735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CA0FDE2-4595-4719-D6B8-5B2B2B17C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893854"/>
            <a:ext cx="3281690" cy="30741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ECLIPSE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74320"/>
            <a:ext cx="1828800" cy="548640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966960" y="274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2026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SIH26186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89611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Sahayak</a:t>
            </a: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AI-Based Predictive Personnel Stress and Welfare Monitoring System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1243584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01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30352" y="1911096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258568"/>
            <a:ext cx="1655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completes a structured stress assessment in the app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2331720" y="22174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7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▷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96312" y="178308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569464" y="1911096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2258568"/>
            <a:ext cx="1655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API validates &amp; maps the 19 input parameters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4370832" y="22174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7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▷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35424" y="178308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08576" y="1911096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45152" y="2258568"/>
            <a:ext cx="1655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FastAPI-hosted Random Forest scores Low / Medium / High risk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6409944" y="22174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7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▷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74536" y="178308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647688" y="1911096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84264" y="2258568"/>
            <a:ext cx="1655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surfaces contributing factors &amp; recommendations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8449056" y="22174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7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613648" y="178308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686800" y="1911096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23376" y="2258568"/>
            <a:ext cx="1655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get alerts; officers get relief &amp; emergency tools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5486400" cy="2880360"/>
          </a:xfrm>
          <a:prstGeom prst="roundRect">
            <a:avLst>
              <a:gd name="adj" fmla="val 1905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85800" y="35021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addresses the problem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3886200"/>
            <a:ext cx="5029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duty, leave, deployment &amp; wellness data into one structured risk assessment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journaling keeps personal reflections visible to the officer alone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Random Forest scoring flags High-risk cases for timely welfare intervention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relief tools and one-tap emergency access (112, Tele-MANAS) support immediate needs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dashboards surface unit-wide trends without exposing journal content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3337560"/>
            <a:ext cx="5559552" cy="2880360"/>
          </a:xfrm>
          <a:prstGeom prst="roundRect">
            <a:avLst>
              <a:gd name="adj" fmla="val 190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00800" y="35021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and uniqueness of the solution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0" y="3886200"/>
            <a:ext cx="51206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 — Streamlit frontend, Spring Boot API, FastAPI + Random Forest ML service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risk output — graded probabilities plus a contributing-factor breakdown, not a flat label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Class-balanced model tuned for 77.3% recall on High-risk cases, the metric that matters most here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Role-gated views keep officer journals private while supervisors see only aggregated, access-controlled data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Stress-relief and emergency-support tools embedded directly in the officer's workflow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65760" y="64739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Idea Submission Template  •  </a:t>
            </a:r>
            <a:r>
              <a:rPr lang="en-US" sz="10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Sahayak</a:t>
            </a: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SIH26186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368735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ECLIPSE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74320"/>
            <a:ext cx="1828800" cy="548640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966960" y="274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2026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SIH26186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365760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 Frontend (Streamlit)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618488"/>
            <a:ext cx="3657600" cy="4050792"/>
          </a:xfrm>
          <a:prstGeom prst="roundRect">
            <a:avLst>
              <a:gd name="adj" fmla="val 125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1801368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Role-gated web app for Officers &amp; Supervisors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stress assessment, private journal, relief exercises, one-tap emergency access (112, Tele-MANAS)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officer records, high-risk alerts, officer search, command dashboard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Dark-themed UI with colour-coded risk indicators; only displays predictions, never computes them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60520" y="960120"/>
            <a:ext cx="3657600" cy="566928"/>
          </a:xfrm>
          <a:prstGeom prst="roundRect">
            <a:avLst>
              <a:gd name="adj" fmla="val 806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297680" y="9601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  Backend (Spring Boot)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60520" y="1618488"/>
            <a:ext cx="3657600" cy="4050792"/>
          </a:xfrm>
          <a:prstGeom prst="roundRect">
            <a:avLst>
              <a:gd name="adj" fmla="val 1250"/>
            </a:avLst>
          </a:prstGeom>
          <a:solidFill>
            <a:srgbClr val="E3F3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343400" y="1801368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/api/personnel/analyze accepts 19 assessment parameters as JSON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PredictionService relays data to the FastAPI ML service and returns the predicted risk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RiskFactorService, RecommendationService &amp; AlertService explain risk and trigger high-priority alerts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&amp; global exception handling keep responses consistent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55280" y="960120"/>
            <a:ext cx="3657600" cy="566928"/>
          </a:xfrm>
          <a:prstGeom prst="roundRect">
            <a:avLst>
              <a:gd name="adj" fmla="val 8065"/>
            </a:avLst>
          </a:prstGeom>
          <a:solidFill>
            <a:srgbClr val="141B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092440" y="9601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🌲  ML Engine (Random Forest)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955280" y="1618488"/>
            <a:ext cx="3657600" cy="4050792"/>
          </a:xfrm>
          <a:prstGeom prst="roundRect">
            <a:avLst>
              <a:gd name="adj" fmla="val 1250"/>
            </a:avLst>
          </a:prstGeom>
          <a:solidFill>
            <a:srgbClr val="E6E9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138160" y="1801368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predicts Low / Medium / High risk with class probabilities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Class-balanced, research-backed training on duty, leave, deployment &amp; wellness signals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81.8% overall accuracy, 77.3% recall on the High-risk class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 synthetic, domain-informed dataset; real rollout needs validated personnel data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" y="5760720"/>
            <a:ext cx="11457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FastAPI connects the Spring Boot backend to the Random Forest model, so predictions, contributing factors and recommendations flow through one consistent pipeline.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64739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Idea Submission Template  •  </a:t>
            </a:r>
            <a:r>
              <a:rPr lang="en-US" sz="10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Sahayak</a:t>
            </a: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SIH26186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68735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ECLIPSE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74320"/>
            <a:ext cx="1828800" cy="548640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966960" y="274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2026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SIH26186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&amp; VIABILITY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3657600" cy="502920"/>
          </a:xfrm>
          <a:prstGeom prst="roundRect">
            <a:avLst>
              <a:gd name="adj" fmla="val 9091"/>
            </a:avLst>
          </a:prstGeom>
          <a:solidFill>
            <a:srgbClr val="2E7D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Feasibility Analysis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3657600" cy="3429000"/>
          </a:xfrm>
          <a:prstGeom prst="roundRect">
            <a:avLst>
              <a:gd name="adj" fmla="val 1333"/>
            </a:avLst>
          </a:prstGeom>
          <a:solidFill>
            <a:srgbClr val="E7F5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32918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</a:t>
            </a:r>
            <a:r>
              <a:rPr lang="en-US" sz="14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backend (Spring Boot) and the Random Forest model are independently built and functional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well-documented stack (</a:t>
            </a:r>
            <a:r>
              <a:rPr lang="en-US" sz="14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Spring Boot, </a:t>
            </a:r>
            <a:r>
              <a:rPr lang="en-US" sz="14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makes final integration straightforward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MVP connecting all three layers is achievable within the hackathon timeline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5102352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7D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85800" y="5102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Feasibility: High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60520" y="960120"/>
            <a:ext cx="3657600" cy="502920"/>
          </a:xfrm>
          <a:prstGeom prst="roundRect">
            <a:avLst>
              <a:gd name="adj" fmla="val 9091"/>
            </a:avLst>
          </a:prstGeom>
          <a:solidFill>
            <a:srgbClr val="C77B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297680" y="960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Potential Challenges &amp; Risks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60520" y="1554480"/>
            <a:ext cx="3657600" cy="3429000"/>
          </a:xfrm>
          <a:prstGeom prst="roundRect">
            <a:avLst>
              <a:gd name="adj" fmla="val 1333"/>
            </a:avLst>
          </a:prstGeom>
          <a:solidFill>
            <a:srgbClr val="FBF1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343400" y="1737360"/>
            <a:ext cx="32918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Completing the live Spring Boot → FastAPI connection for real-time predictions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trained on a synthetic dataset, not yet validated on real personnel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stigmatization for officers flagged High-risk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77.3% recall on High-risk cases still leaves room for missed or false alerts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80560" y="5102352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77B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480560" y="5102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77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Risk: Medium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55280" y="960120"/>
            <a:ext cx="365760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092440" y="960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 Strategies to Overcome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55280" y="1554480"/>
            <a:ext cx="3657600" cy="3429000"/>
          </a:xfrm>
          <a:prstGeom prst="roundRect">
            <a:avLst>
              <a:gd name="adj" fmla="val 1333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138160" y="1737360"/>
            <a:ext cx="32918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integration via the PredictionService interface already scaffolded in the backend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phased validation on authorized, governed real-world data before full rollout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High-risk alerts to welfare officers only, framed as support, not discipline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tuning class balance &amp; thresholds, with human review before any action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75320" y="5102352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275320" y="5102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Readiness: Strong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64739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Idea Submission Template  •  </a:t>
            </a:r>
            <a:r>
              <a:rPr lang="en-US" sz="10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Sahayak</a:t>
            </a: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SIH26186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368735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638300" y="143256"/>
            <a:ext cx="8534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1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BENEFITS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0" y="731520"/>
            <a:ext cx="3048000" cy="487680"/>
          </a:xfrm>
          <a:prstGeom prst="roundRect">
            <a:avLst>
              <a:gd name="adj" fmla="val 15000"/>
            </a:avLst>
          </a:prstGeom>
          <a:solidFill>
            <a:srgbClr val="1B2A5B"/>
          </a:solidFill>
          <a:ln w="9525">
            <a:solidFill>
              <a:srgbClr val="1B2A5B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645152" y="822960"/>
            <a:ext cx="290169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05000"/>
              </a:lnSpc>
              <a:spcAft>
                <a:spcPts val="133"/>
              </a:spcAft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SAHAYAK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>
              <a:lnSpc>
                <a:spcPct val="105000"/>
              </a:lnSpc>
            </a:pP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93648" y="1463040"/>
            <a:ext cx="3291840" cy="487680"/>
          </a:xfrm>
          <a:prstGeom prst="roundRect">
            <a:avLst>
              <a:gd name="adj" fmla="val 15000"/>
            </a:avLst>
          </a:prstGeom>
          <a:solidFill>
            <a:srgbClr val="1B2A5B"/>
          </a:solidFill>
          <a:ln w="9525">
            <a:solidFill>
              <a:srgbClr val="1B2A5B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066800" y="1560576"/>
            <a:ext cx="314553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05000"/>
              </a:lnSpc>
              <a:spcAft>
                <a:spcPts val="133"/>
              </a:spcAft>
            </a:pPr>
            <a:r>
              <a:rPr lang="en-US" sz="14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>
              <a:lnSpc>
                <a:spcPct val="105000"/>
              </a:lnSpc>
            </a:pP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99248" y="1463040"/>
            <a:ext cx="3291840" cy="487680"/>
          </a:xfrm>
          <a:prstGeom prst="roundRect">
            <a:avLst>
              <a:gd name="adj" fmla="val 15000"/>
            </a:avLst>
          </a:prstGeom>
          <a:solidFill>
            <a:srgbClr val="0F6E56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784592" y="1560576"/>
            <a:ext cx="314553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05000"/>
              </a:lnSpc>
              <a:spcAft>
                <a:spcPts val="133"/>
              </a:spcAft>
            </a:pPr>
            <a:r>
              <a:rPr lang="en-US" sz="14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>
              <a:lnSpc>
                <a:spcPct val="105000"/>
              </a:lnSpc>
            </a:pP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 flipH="1">
            <a:off x="2639568" y="1280160"/>
            <a:ext cx="3352800" cy="182880"/>
          </a:xfrm>
          <a:prstGeom prst="line">
            <a:avLst/>
          </a:prstGeom>
          <a:noFill/>
          <a:ln w="12700">
            <a:solidFill>
              <a:srgbClr val="1B2A5B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92368" y="1280160"/>
            <a:ext cx="3352800" cy="182880"/>
          </a:xfrm>
          <a:prstGeom prst="line">
            <a:avLst/>
          </a:prstGeom>
          <a:noFill/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pPr defTabSz="1219170"/>
            <a:endParaRPr lang="en-IN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 flipH="1">
            <a:off x="2334768" y="1950720"/>
            <a:ext cx="304800" cy="243840"/>
          </a:xfrm>
          <a:prstGeom prst="line">
            <a:avLst/>
          </a:prstGeom>
          <a:noFill/>
          <a:ln w="12700">
            <a:solidFill>
              <a:srgbClr val="1B2A5B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2133600"/>
            <a:ext cx="4145280" cy="103632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9525">
            <a:solidFill>
              <a:srgbClr val="1B2A5B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38912" y="2133600"/>
            <a:ext cx="3998976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05000"/>
              </a:lnSpc>
              <a:spcAft>
                <a:spcPts val="133"/>
              </a:spcAft>
            </a:pPr>
            <a:r>
              <a:rPr lang="en-US" sz="1600" b="1" dirty="0">
                <a:solidFill>
                  <a:srgbClr val="1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>
              <a:lnSpc>
                <a:spcPct val="105000"/>
              </a:lnSpc>
            </a:pPr>
            <a:r>
              <a:rPr lang="en-US" sz="1333" dirty="0">
                <a:solidFill>
                  <a:srgbClr val="3D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self-check &amp; instant support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334768" y="3230880"/>
            <a:ext cx="12192" cy="243840"/>
          </a:xfrm>
          <a:prstGeom prst="line">
            <a:avLst/>
          </a:prstGeom>
          <a:noFill/>
          <a:ln w="12700">
            <a:solidFill>
              <a:srgbClr val="1B2A5B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5760" y="3413760"/>
            <a:ext cx="4145280" cy="103632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9525">
            <a:solidFill>
              <a:srgbClr val="1B2A5B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438912" y="3413760"/>
            <a:ext cx="3998976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05000"/>
              </a:lnSpc>
              <a:spcAft>
                <a:spcPts val="133"/>
              </a:spcAft>
            </a:pPr>
            <a:r>
              <a:rPr lang="en-US" sz="1600" b="1" dirty="0">
                <a:solidFill>
                  <a:srgbClr val="1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Welfare officers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>
              <a:lnSpc>
                <a:spcPct val="105000"/>
              </a:lnSpc>
            </a:pPr>
            <a:r>
              <a:rPr lang="en-US" sz="1333" dirty="0">
                <a:solidFill>
                  <a:srgbClr val="3D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Explainable, probability-based alerts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334768" y="4511040"/>
            <a:ext cx="12192" cy="243840"/>
          </a:xfrm>
          <a:prstGeom prst="line">
            <a:avLst/>
          </a:prstGeom>
          <a:noFill/>
          <a:ln w="12700">
            <a:solidFill>
              <a:srgbClr val="1B2A5B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5760" y="4693920"/>
            <a:ext cx="4145280" cy="1036320"/>
          </a:xfrm>
          <a:prstGeom prst="roundRect">
            <a:avLst>
              <a:gd name="adj" fmla="val 7059"/>
            </a:avLst>
          </a:prstGeom>
          <a:solidFill>
            <a:srgbClr val="EAF0FB"/>
          </a:solidFill>
          <a:ln w="9525">
            <a:solidFill>
              <a:srgbClr val="1B2A5B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438912" y="4693920"/>
            <a:ext cx="3998976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05000"/>
              </a:lnSpc>
              <a:spcAft>
                <a:spcPts val="133"/>
              </a:spcAft>
            </a:pPr>
            <a:r>
              <a:rPr lang="en-US" sz="1600" b="1" dirty="0">
                <a:solidFill>
                  <a:srgbClr val="1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Commanders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>
              <a:lnSpc>
                <a:spcPct val="105000"/>
              </a:lnSpc>
            </a:pPr>
            <a:r>
              <a:rPr lang="en-US" sz="1333" dirty="0">
                <a:solidFill>
                  <a:srgbClr val="3D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Unit-wide risk dashboards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 flipH="1">
            <a:off x="6114288" y="1950720"/>
            <a:ext cx="3230880" cy="243840"/>
          </a:xfrm>
          <a:prstGeom prst="line">
            <a:avLst/>
          </a:prstGeom>
          <a:noFill/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138928" y="2194560"/>
            <a:ext cx="1950720" cy="1036320"/>
          </a:xfrm>
          <a:prstGeom prst="roundRect">
            <a:avLst>
              <a:gd name="adj" fmla="val 7059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5212080" y="2194560"/>
            <a:ext cx="1804416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05000"/>
              </a:lnSpc>
              <a:spcAft>
                <a:spcPts val="133"/>
              </a:spcAft>
            </a:pPr>
            <a:r>
              <a:rPr lang="en-US" sz="14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Wellbeing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>
              <a:lnSpc>
                <a:spcPct val="105000"/>
              </a:lnSpc>
            </a:pPr>
            <a:r>
              <a:rPr lang="en-US" sz="1200" dirty="0">
                <a:solidFill>
                  <a:srgbClr val="3D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burnout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114288" y="3230880"/>
            <a:ext cx="12192" cy="243840"/>
          </a:xfrm>
          <a:prstGeom prst="line">
            <a:avLst/>
          </a:prstGeom>
          <a:noFill/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138928" y="3474720"/>
            <a:ext cx="1950720" cy="10363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5212080" y="3489960"/>
            <a:ext cx="1804416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05000"/>
              </a:lnSpc>
              <a:spcAft>
                <a:spcPts val="133"/>
              </a:spcAft>
            </a:pPr>
            <a:r>
              <a:rPr lang="en-US" sz="14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>
              <a:lnSpc>
                <a:spcPct val="105000"/>
              </a:lnSpc>
            </a:pPr>
            <a:r>
              <a:rPr lang="en-US" sz="1200" dirty="0">
                <a:solidFill>
                  <a:srgbClr val="3D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satisfaction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 flipH="1">
            <a:off x="8247888" y="1950720"/>
            <a:ext cx="1097280" cy="243840"/>
          </a:xfrm>
          <a:prstGeom prst="line">
            <a:avLst/>
          </a:prstGeom>
          <a:noFill/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272528" y="2194560"/>
            <a:ext cx="1950720" cy="1036320"/>
          </a:xfrm>
          <a:prstGeom prst="roundRect">
            <a:avLst>
              <a:gd name="adj" fmla="val 7059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7345680" y="2194560"/>
            <a:ext cx="1804416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05000"/>
              </a:lnSpc>
              <a:spcAft>
                <a:spcPts val="133"/>
              </a:spcAft>
            </a:pPr>
            <a:r>
              <a:rPr lang="en-US" sz="14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>
              <a:lnSpc>
                <a:spcPct val="105000"/>
              </a:lnSpc>
            </a:pPr>
            <a:r>
              <a:rPr lang="en-US" sz="1200" dirty="0">
                <a:solidFill>
                  <a:srgbClr val="3D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journals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247888" y="3230880"/>
            <a:ext cx="12192" cy="243840"/>
          </a:xfrm>
          <a:prstGeom prst="line">
            <a:avLst/>
          </a:prstGeom>
          <a:noFill/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272528" y="3474720"/>
            <a:ext cx="1950720" cy="10363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7357872" y="3489960"/>
            <a:ext cx="1804416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05000"/>
              </a:lnSpc>
              <a:spcAft>
                <a:spcPts val="133"/>
              </a:spcAft>
            </a:pPr>
            <a:r>
              <a:rPr lang="en-US" sz="14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response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>
              <a:lnSpc>
                <a:spcPct val="105000"/>
              </a:lnSpc>
            </a:pPr>
            <a:r>
              <a:rPr lang="en-US" sz="1200" dirty="0">
                <a:solidFill>
                  <a:srgbClr val="3D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Speeds up alerts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345168" y="1950720"/>
            <a:ext cx="1036320" cy="243840"/>
          </a:xfrm>
          <a:prstGeom prst="line">
            <a:avLst/>
          </a:prstGeom>
          <a:noFill/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406128" y="2194560"/>
            <a:ext cx="1950720" cy="1036320"/>
          </a:xfrm>
          <a:prstGeom prst="roundRect">
            <a:avLst>
              <a:gd name="adj" fmla="val 7059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9479280" y="2194560"/>
            <a:ext cx="1804416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05000"/>
              </a:lnSpc>
              <a:spcAft>
                <a:spcPts val="133"/>
              </a:spcAft>
            </a:pPr>
            <a:r>
              <a:rPr lang="en-US" sz="14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>
              <a:lnSpc>
                <a:spcPct val="105000"/>
              </a:lnSpc>
            </a:pPr>
            <a:r>
              <a:rPr lang="en-US" sz="1200" dirty="0">
                <a:solidFill>
                  <a:srgbClr val="3D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resilience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0381488" y="3230880"/>
            <a:ext cx="12192" cy="243840"/>
          </a:xfrm>
          <a:prstGeom prst="line">
            <a:avLst/>
          </a:prstGeom>
          <a:noFill/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9406128" y="3474720"/>
            <a:ext cx="1950720" cy="10363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9479280" y="3474720"/>
            <a:ext cx="1804416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05000"/>
              </a:lnSpc>
              <a:spcAft>
                <a:spcPts val="133"/>
              </a:spcAft>
            </a:pPr>
            <a:r>
              <a:rPr lang="en-US" sz="14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>
              <a:lnSpc>
                <a:spcPct val="105000"/>
              </a:lnSpc>
            </a:pPr>
            <a:r>
              <a:rPr lang="en-US" sz="1200" dirty="0">
                <a:solidFill>
                  <a:srgbClr val="3D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allocation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52">
            <a:extLst>
              <a:ext uri="{FF2B5EF4-FFF2-40B4-BE49-F238E27FC236}">
                <a16:creationId xmlns:a16="http://schemas.microsoft.com/office/drawing/2014/main" id="{33E66957-C5BB-9291-F16D-90D4BB39B8A5}"/>
              </a:ext>
            </a:extLst>
          </p:cNvPr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Idea Submission Template  •  </a:t>
            </a:r>
            <a:r>
              <a:rPr lang="en-US" sz="10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Sahayak</a:t>
            </a: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SIH26186</a:t>
            </a:r>
            <a:endParaRPr lang="en-US" sz="1000" dirty="0"/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5AE3A30C-954D-FA04-F97D-BEF151389BE2}"/>
              </a:ext>
            </a:extLst>
          </p:cNvPr>
          <p:cNvSpPr/>
          <p:nvPr/>
        </p:nvSpPr>
        <p:spPr>
          <a:xfrm>
            <a:off x="426720" y="18288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1DB985CA-E678-DE86-6846-D7D5326936C3}"/>
              </a:ext>
            </a:extLst>
          </p:cNvPr>
          <p:cNvSpPr/>
          <p:nvPr/>
        </p:nvSpPr>
        <p:spPr>
          <a:xfrm>
            <a:off x="365760" y="1828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ECLIPSE</a:t>
            </a:r>
            <a:endParaRPr lang="en-US" sz="1300" dirty="0"/>
          </a:p>
        </p:txBody>
      </p:sp>
      <p:sp>
        <p:nvSpPr>
          <p:cNvPr id="49" name="Shape 2">
            <a:extLst>
              <a:ext uri="{FF2B5EF4-FFF2-40B4-BE49-F238E27FC236}">
                <a16:creationId xmlns:a16="http://schemas.microsoft.com/office/drawing/2014/main" id="{D8C1F31E-3B0E-B7BA-E5F8-4AFEDA2B83D8}"/>
              </a:ext>
            </a:extLst>
          </p:cNvPr>
          <p:cNvSpPr/>
          <p:nvPr/>
        </p:nvSpPr>
        <p:spPr>
          <a:xfrm>
            <a:off x="9966960" y="274320"/>
            <a:ext cx="1828800" cy="548640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5FA7EEFD-DEED-974A-847D-5009B9AE42C7}"/>
              </a:ext>
            </a:extLst>
          </p:cNvPr>
          <p:cNvSpPr/>
          <p:nvPr/>
        </p:nvSpPr>
        <p:spPr>
          <a:xfrm>
            <a:off x="9966960" y="274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2026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SIH26186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ECLIPSE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74320"/>
            <a:ext cx="1828800" cy="548640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966960" y="274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2026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SIH26186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REFERENCES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/ links of the reference and research work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11430000" cy="585216"/>
          </a:xfrm>
          <a:prstGeom prst="roundRect">
            <a:avLst>
              <a:gd name="adj" fmla="val 625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48640" y="147218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1280160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1280160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— SIH26186, Ministry of Home Affairs, sih.gov.in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195560" y="1399032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195560" y="13990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1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Source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938528"/>
            <a:ext cx="11430000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48640" y="213055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4400" y="1938528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Rationale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1938528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behind each assessment field, grounded in military, paramilitary &amp; CAPF stress studies (GitHub docs)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195560" y="205740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0195560" y="2057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1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Docs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596896"/>
            <a:ext cx="11430000" cy="585216"/>
          </a:xfrm>
          <a:prstGeom prst="roundRect">
            <a:avLst>
              <a:gd name="adj" fmla="val 625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48640" y="278892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14400" y="2596896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Methodology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0" y="2596896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pipeline, Random Forest design, class-balancing &amp; evaluation metrics (GitHub docs)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195560" y="271576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195560" y="27157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1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Docs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255264"/>
            <a:ext cx="11430000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48640" y="344728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14400" y="3255264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REST Design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14800" y="3255264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Spring documentation for REST API layering &amp; validation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195560" y="3374136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0195560" y="33741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1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Docs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913632"/>
            <a:ext cx="11430000" cy="585216"/>
          </a:xfrm>
          <a:prstGeom prst="roundRect">
            <a:avLst>
              <a:gd name="adj" fmla="val 6250"/>
            </a:avLst>
          </a:prstGeom>
          <a:solidFill>
            <a:srgbClr val="EEF2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48640" y="410565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914400" y="3913632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Model Serving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114800" y="3913632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FastAPI documentation for serving ML predictions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0195560" y="4032504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0195560" y="40325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1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Docs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4572000"/>
            <a:ext cx="11430000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548640" y="476402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914400" y="4572000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 Security Guidance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114800" y="4572000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for Machine Learning &amp; LLM Applications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0195560" y="4690872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10195560" y="46908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1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Standard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65760" y="532180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This prototype was trained and tested on a synthetically generated, domain-informed dataset due to the sensitive and restricted nature of real personnel welfare data.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65760" y="64739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Idea Submission Template  •  </a:t>
            </a:r>
            <a:r>
              <a:rPr lang="en-US" sz="10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Sahayak</a:t>
            </a: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SIH26186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368735" y="64739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924</Words>
  <Application>Microsoft Office PowerPoint</Application>
  <PresentationFormat>Widescreen</PresentationFormat>
  <Paragraphs>151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Arshiya Matta</cp:lastModifiedBy>
  <cp:revision>3</cp:revision>
  <dcterms:created xsi:type="dcterms:W3CDTF">2026-09-06T00:05:57Z</dcterms:created>
  <dcterms:modified xsi:type="dcterms:W3CDTF">2026-09-06T03:40:33Z</dcterms:modified>
</cp:coreProperties>
</file>